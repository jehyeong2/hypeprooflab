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1B2A4A"/>
                </a:solidFill>
                <a:latin typeface="Pretendard"/>
              </a:rPr>
              <a:t>Future AI Leader's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>
                <a:solidFill>
                  <a:srgbClr val="4A4A4A"/>
                </a:solidFill>
                <a:latin typeface="Pretendard"/>
              </a:rPr>
              <a:t>코딩하는 아이에서 'AI를 지휘하는 아이'로
부모와 함께 만드는 4시간의 관점 전환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A9A9A"/>
                </a:solidFill>
                <a:latin typeface="Pretendard"/>
              </a:rPr>
              <a:t>Filamentree (HypeProof AI Lab) × 동아일보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B2A4A"/>
                </a:solidFill>
                <a:latin typeface="Pretendard"/>
              </a:rPr>
              <a:t>시장 기회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8288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FF6B35"/>
                </a:solidFill>
                <a:latin typeface="Pretendard"/>
              </a:rPr>
              <a:t>430억$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00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B2A4A"/>
                </a:solidFill>
                <a:latin typeface="Pretendard"/>
              </a:rPr>
              <a:t>글로벌 AI 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4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4A4A4A"/>
                </a:solidFill>
                <a:latin typeface="Pretendard"/>
              </a:rPr>
              <a:t>2030년 전망 (CAGR 41%)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0312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FF6B35"/>
                </a:solidFill>
                <a:latin typeface="Pretendard"/>
              </a:rPr>
              <a:t>10배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00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B2A4A"/>
                </a:solidFill>
                <a:latin typeface="Pretendard"/>
              </a:rPr>
              <a:t>한국 코딩교육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74904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4A4A4A"/>
                </a:solidFill>
                <a:latin typeface="Pretendard"/>
              </a:rPr>
              <a:t>1,500억→1.5조 (2030)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10312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FF6B35"/>
                </a:solidFill>
                <a:latin typeface="Pretendard"/>
              </a:rPr>
              <a:t>93%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3200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B2A4A"/>
                </a:solidFill>
                <a:latin typeface="Pretendard"/>
              </a:rPr>
              <a:t>학부모 인식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374904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4A4A4A"/>
                </a:solidFill>
                <a:latin typeface="Pretendard"/>
              </a:rPr>
              <a:t>AI를 필수 역량으로 인식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A9A9A"/>
                </a:solidFill>
                <a:latin typeface="Pretendard"/>
              </a:rPr>
              <a:t>Sources: Mordor Intelligence, 글로벌인포메이션(GII), 한국경제·입소스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B2A4A"/>
                </a:solidFill>
                <a:latin typeface="Pretendard"/>
              </a:rPr>
              <a:t>문제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8288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9971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2A4A"/>
                </a:solidFill>
                <a:latin typeface="Pretendard"/>
              </a:rPr>
              <a:t>● 코딩 기술자 ≠ AI 시대 인재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7228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2028년 개발자 75%가 AI 코딩 도구 사용 — 코딩 취업률 90%→60% 급락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99971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2A4A"/>
                </a:solidFill>
                <a:latin typeface="Pretendard"/>
              </a:rPr>
              <a:t>● 아이 혼자 하는 교육의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29000"/>
            <a:ext cx="97228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부모는 대기실, 가정 내 확장 불가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99971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2A4A"/>
                </a:solidFill>
                <a:latin typeface="Pretendard"/>
              </a:rPr>
              <a:t>● 만드는 경험의 부재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389120"/>
            <a:ext cx="97228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학교 정보교육 연간 34시간, 이론 위주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440680"/>
            <a:ext cx="98142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6B35"/>
                </a:solidFill>
                <a:latin typeface="Pretendard"/>
              </a:rPr>
              <a:t>"코딩 문법을 외우게 할 것인가, AI를 지휘하는 법을 알려줄 것인가?"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B2A4A"/>
                </a:solidFill>
                <a:latin typeface="Pretendard"/>
              </a:rPr>
              <a:t>핵심 컨셉: 부모-자녀 Co-Founding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8288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6B35"/>
                </a:solidFill>
                <a:latin typeface="Pretendard"/>
              </a:rPr>
              <a:t>👧 자녀 (Visionary)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● 무한한 상상력으로 아이디어 발산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632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● "하늘 나는 고양이를 만들래!"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● AI를 직접 지휘하는 경험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2A4A"/>
                </a:solidFill>
                <a:latin typeface="Pretendard"/>
              </a:rPr>
              <a:t>👨 부모 (Integrator)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● 현실 감각으로 구조화·구체화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0632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● "날개는 어떤 버튼으로 펴?"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5661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● 기획서 정리 지원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440680"/>
            <a:ext cx="98142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B2A4A"/>
                </a:solidFill>
                <a:latin typeface="Pretendard"/>
              </a:rPr>
              <a:t>🤖 AI (Executor) — 지시받은 대로 코드를 작성하는 실행자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B2A4A"/>
                </a:solidFill>
                <a:latin typeface="Pretendard"/>
              </a:rPr>
              <a:t>커리큘럼: 4시간, 4단계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8288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9971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2A4A"/>
                </a:solidFill>
                <a:latin typeface="Pretendard"/>
              </a:rPr>
              <a:t>● 🔄 Part 1: 관점의 전환 (40분)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7228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AI 라이브 데모 + 노동자 vs 건축가 토론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99971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2A4A"/>
                </a:solidFill>
                <a:latin typeface="Pretendard"/>
              </a:rPr>
              <a:t>● 🤝 Part 2: 협업과 조율 (50분)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29000"/>
            <a:ext cx="97228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샘플 게임 분석 → 기획서 작성 (아이: 상상 / 부모: 정리)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99971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2A4A"/>
                </a:solidFill>
                <a:latin typeface="Pretendard"/>
              </a:rPr>
              <a:t>● 🎮 Part 3: 지휘와 소통 (90분)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389120"/>
            <a:ext cx="97228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AI 지휘하여 실제 게임 제작, 10초 피드백 루프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92040"/>
            <a:ext cx="99971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2A4A"/>
                </a:solidFill>
                <a:latin typeface="Pretendard"/>
              </a:rPr>
              <a:t>● 🏆 Part 4: 성취와 비전 (60분)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49240"/>
            <a:ext cx="97228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팀 발표 + 5개 카테고리 시상 (모든 팀 수상)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B2A4A"/>
                </a:solidFill>
                <a:latin typeface="Pretendard"/>
              </a:rPr>
              <a:t>동아일보 파트너십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8288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6B35"/>
                </a:solidFill>
                <a:latin typeface="Pretendard"/>
              </a:rPr>
              <a:t>동아일보가 하는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● 공동 브랜드 명칭 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632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● 동아미디어센터 공간 제공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● 어린이동아·동아닷컴 홍보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690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● 구독자·수료생 네트워크 연계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2A4A"/>
                </a:solidFill>
                <a:latin typeface="Pretendard"/>
              </a:rPr>
              <a:t>동아일보가 얻는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● AI 교육 브랜드 선점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0632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● B2C 신규 매출 (수수료)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5661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● 워크숍 기반 콘텐츠 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0690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● 학부모/학생 데이터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440680"/>
            <a:ext cx="98142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B2A4A"/>
                </a:solidFill>
                <a:latin typeface="Pretendard"/>
              </a:rPr>
              <a:t>추가 인력·예산 투입 없이, 이미 보유한 자산만으로 참여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B2A4A"/>
                </a:solidFill>
                <a:latin typeface="Pretendard"/>
              </a:rPr>
              <a:t>로드맵 &amp; 성과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8288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301752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6B35"/>
                </a:solidFill>
                <a:latin typeface="Pretendard"/>
              </a:rPr>
              <a:t>Phase 1: 파일럿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A9A9A"/>
                </a:solidFill>
                <a:latin typeface="Pretendard"/>
              </a:rPr>
              <a:t>1~2개월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004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4A4A4A"/>
                </a:solidFill>
                <a:latin typeface="Pretendard"/>
              </a:rPr>
              <a:t>· 프로그램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5661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4A4A4A"/>
                </a:solidFill>
                <a:latin typeface="Pretendard"/>
              </a:rPr>
              <a:t>· 1차 워크숍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93192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4A4A4A"/>
                </a:solidFill>
                <a:latin typeface="Pretendard"/>
              </a:rPr>
              <a:t>· 피드백 수집·개선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103120"/>
            <a:ext cx="301752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28600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6B35"/>
                </a:solidFill>
                <a:latin typeface="Pretendard"/>
              </a:rPr>
              <a:t>Phase 2: 확산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74320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A9A9A"/>
                </a:solidFill>
                <a:latin typeface="Pretendard"/>
              </a:rPr>
              <a:t>3~6개월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2004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4A4A4A"/>
                </a:solidFill>
                <a:latin typeface="Pretendard"/>
              </a:rPr>
              <a:t>· 정기 클래스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5661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4A4A4A"/>
                </a:solidFill>
                <a:latin typeface="Pretendard"/>
              </a:rPr>
              <a:t>· 학교 제휴 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93192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4A4A4A"/>
                </a:solidFill>
                <a:latin typeface="Pretendard"/>
              </a:rPr>
              <a:t>· 월 4회 체계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0" y="2103120"/>
            <a:ext cx="301752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28600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6B35"/>
                </a:solidFill>
                <a:latin typeface="Pretendard"/>
              </a:rPr>
              <a:t>Phase 3: 스케일업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74320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A9A9A"/>
                </a:solidFill>
                <a:latin typeface="Pretendard"/>
              </a:rPr>
              <a:t>6~12개월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2004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4A4A4A"/>
                </a:solidFill>
                <a:latin typeface="Pretendard"/>
              </a:rPr>
              <a:t>· 기업 CSR 연계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5661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4A4A4A"/>
                </a:solidFill>
                <a:latin typeface="Pretendard"/>
              </a:rPr>
              <a:t>· 강사 양성 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93192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4A4A4A"/>
                </a:solidFill>
                <a:latin typeface="Pretendard"/>
              </a:rPr>
              <a:t>· 온라인 SaaS 확장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B2A4A"/>
                </a:solidFill>
                <a:latin typeface="Pretendard"/>
              </a:rPr>
              <a:t>NPS 90%+ 목표 | SNS 도달률 회당 3만+ | 손익분기: 월 3회 워크숍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B2A4A"/>
                </a:solidFill>
                <a:latin typeface="Pretendard"/>
              </a:rPr>
              <a:t>Faculty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8288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628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</a:rPr>
                        <a:t>이름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</a:rPr>
                        <a:t>역할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</a:rPr>
                        <a:t>소속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</a:rPr>
                        <a:t>전문분야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4A4A"/>
                          </a:solidFill>
                          <a:latin typeface="Pretendard"/>
                        </a:rPr>
                        <a:t>이재원 (Jay)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4A4A"/>
                          </a:solidFill>
                          <a:latin typeface="Pretendard"/>
                        </a:rPr>
                        <a:t>Product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4A4A"/>
                          </a:solidFill>
                          <a:latin typeface="Pretendard"/>
                        </a:rPr>
                        <a:t>Sonatus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4A4A"/>
                          </a:solidFill>
                          <a:latin typeface="Pretendard"/>
                        </a:rPr>
                        <a:t>SW Platform, AI Strategy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4A4A"/>
                          </a:solidFill>
                          <a:latin typeface="Pretendard"/>
                        </a:rPr>
                        <a:t>김지웅 (Ryan)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4A4A"/>
                          </a:solidFill>
                          <a:latin typeface="Pretendard"/>
                        </a:rPr>
                        <a:t>Tech Lead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4A4A"/>
                          </a:solidFill>
                          <a:latin typeface="Pretendard"/>
                        </a:rPr>
                        <a:t>Filamentree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4A4A"/>
                          </a:solidFill>
                          <a:latin typeface="Pretendard"/>
                        </a:rPr>
                        <a:t>R&amp;D, Ex-CERN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4A4A"/>
                          </a:solidFill>
                          <a:latin typeface="Pretendard"/>
                        </a:rPr>
                        <a:t>신진용 (JY)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4A4A"/>
                          </a:solidFill>
                          <a:latin typeface="Pretendard"/>
                        </a:rPr>
                        <a:t>Content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4A4A"/>
                          </a:solidFill>
                          <a:latin typeface="Pretendard"/>
                        </a:rPr>
                        <a:t>Remember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4A4A"/>
                          </a:solidFill>
                          <a:latin typeface="Pretendard"/>
                        </a:rPr>
                        <a:t>AI/ML, Agentic AI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4A4A"/>
                          </a:solidFill>
                          <a:latin typeface="Pretendard"/>
                        </a:rPr>
                        <a:t>Sebastian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4A4A"/>
                          </a:solidFill>
                          <a:latin typeface="Pretendard"/>
                        </a:rPr>
                        <a:t>Engineer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4A4A"/>
                          </a:solidFill>
                          <a:latin typeface="Pretendard"/>
                        </a:rPr>
                        <a:t>Sonatus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4A4A"/>
                          </a:solidFill>
                          <a:latin typeface="Pretendard"/>
                        </a:rPr>
                        <a:t>SW Engineering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B2A4A"/>
                </a:solidFill>
                <a:latin typeface="Pretendard"/>
              </a:rPr>
              <a:t>실적 &amp; 레퍼런스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8288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9971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2A4A"/>
                </a:solidFill>
                <a:latin typeface="Pretendard"/>
              </a:rPr>
              <a:t>● 워크숍 실적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7228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실제 워크숍 진행 완료, 학부모 피드백 수집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99971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2A4A"/>
                </a:solidFill>
                <a:latin typeface="Pretendard"/>
              </a:rPr>
              <a:t>● 아이들이 만든 게임 9개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29000"/>
            <a:ext cx="97228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4시간 만에 완성한 실제 플레이 가능 게임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99971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2A4A"/>
                </a:solidFill>
                <a:latin typeface="Pretendard"/>
              </a:rPr>
              <a:t>● 비즈니스 모델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389120"/>
            <a:ext cx="97228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A4A4A"/>
                </a:solidFill>
                <a:latin typeface="Pretendard"/>
              </a:rPr>
              <a:t>₩200,000/팀, 마진 50%+, 연간 ₩93M 전망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440680"/>
            <a:ext cx="98142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6B35"/>
                </a:solidFill>
                <a:latin typeface="Pretendard"/>
              </a:rPr>
              <a:t>"AI가 어렵지 않다는 것을 배웠습니다. 아이와 처음으로 무언가를 함께 완성했습니다."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